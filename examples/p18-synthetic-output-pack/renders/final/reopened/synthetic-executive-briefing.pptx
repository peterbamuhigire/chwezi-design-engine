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4B6E1D1F-AED3-4381-87F9-FD7F3B67FBF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459E7433-8319-4D1E-A025-26F9C74F89F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7040" cy="5851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 vert="eaVert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560" cy="5851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C4C04D3D-50DF-4A50-B409-A9566B20B75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9B8119A4-C14B-47DD-AD30-7D568FF9B27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2040" cy="1361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000" b="1" u="none" strike="noStrike" cap="all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2040" cy="1499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  <a:def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000" b="0" u="none" strike="noStrike">
              <a:solidFill>
                <a:schemeClr val="dk1">
                  <a:tint val="75000"/>
                </a:schemeClr>
              </a:solidFill>
              <a:effectLst/>
              <a:uFillTx/>
              <a:latin typeface="Calibri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C9D71C35-0BCB-4505-BDA3-010D9F2E7B1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0F6B34F6-EE0E-4DD6-A3EF-D71F9F76E66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92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920" cy="395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36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360" cy="395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" name="PlaceHolder 6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7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8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C98DC871-6246-4973-B734-0E7B72A13A2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A45370C3-FC1D-4418-BE89-39D60212B84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F053AE2D-ECD4-43D5-A152-08D6CCF92F2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 defTabSz="457200"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457200"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343080" indent="-343080" algn="l" defTabSz="457200"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800" cy="1161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1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1280" cy="585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800" cy="4690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0BE00664-93BC-4464-AB29-1ACA2376814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6040" cy="566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1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algn="l" defTabSz="457200">
              <a:spcBef>
                <a:spcPts val="28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algn="l" defTabSz="457200">
              <a:spcBef>
                <a:spcPts val="28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457200"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914400"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371600"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828800"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286000"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743200"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6040" cy="804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568E3C3C-15A1-405B-BA61-CD4C69BB232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9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Rectangle 1"/>
          <p:cNvSpPr/>
          <p:nvPr/>
        </p:nvSpPr>
        <p:spPr>
          <a:xfrm>
            <a:off x="0" y="0"/>
            <a:ext cx="12191400" cy="109440"/>
          </a:xfrm>
          <a:prstGeom prst="rect">
            <a:avLst/>
          </a:prstGeom>
          <a:solidFill>
            <a:srgbClr val="176B6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2" name="TextBox 2"/>
          <p:cNvSpPr/>
          <p:nvPr/>
        </p:nvSpPr>
        <p:spPr>
          <a:xfrm>
            <a:off x="731520" y="960120"/>
            <a:ext cx="1060668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720" tIns="18360" rIns="5472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000" b="1" u="none" strike="noStrike">
                <a:solidFill>
                  <a:srgbClr val="18313A"/>
                </a:solidFill>
                <a:effectLst/>
                <a:uFillTx/>
                <a:latin typeface="Spectral"/>
              </a:rPr>
              <a:t>Collection delay shifts cash needs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TextBox 3"/>
          <p:cNvSpPr/>
          <p:nvPr/>
        </p:nvSpPr>
        <p:spPr>
          <a:xfrm>
            <a:off x="777240" y="1828800"/>
            <a:ext cx="987516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720" tIns="18360" rIns="5472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176B68"/>
                </a:solidFill>
                <a:effectLst/>
                <a:uFillTx/>
                <a:latin typeface="Atkinson Hyperlegible"/>
              </a:rPr>
              <a:t>A four-period synthetic fixture keeps billings and cash costs fixed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TextBox 4"/>
          <p:cNvSpPr/>
          <p:nvPr/>
        </p:nvSpPr>
        <p:spPr>
          <a:xfrm>
            <a:off x="777240" y="3337560"/>
            <a:ext cx="105152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720" tIns="18360" rIns="5472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58676D"/>
                </a:solidFill>
                <a:effectLst/>
                <a:uFillTx/>
                <a:latin typeface="Atkinson Hyperlegible"/>
              </a:rPr>
              <a:t>UNFUNDED GAP AFTER THE ASSUMED BUFFER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TextBox 5"/>
          <p:cNvSpPr/>
          <p:nvPr/>
        </p:nvSpPr>
        <p:spPr>
          <a:xfrm>
            <a:off x="777240" y="3767400"/>
            <a:ext cx="32457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720" tIns="18360" rIns="5472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500" b="1" u="none" strike="noStrike">
                <a:solidFill>
                  <a:srgbClr val="176B68"/>
                </a:solidFill>
                <a:effectLst/>
                <a:uFillTx/>
                <a:latin typeface="Spectral"/>
              </a:rPr>
              <a:t>0 SCU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TextBox 6"/>
          <p:cNvSpPr/>
          <p:nvPr/>
        </p:nvSpPr>
        <p:spPr>
          <a:xfrm>
            <a:off x="777240" y="4370760"/>
            <a:ext cx="324576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720" tIns="18360" rIns="5472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18313A"/>
                </a:solidFill>
                <a:effectLst/>
                <a:uFillTx/>
                <a:latin typeface="Atkinson Hyperlegible"/>
              </a:rPr>
              <a:t>No lag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Box 7"/>
          <p:cNvSpPr/>
          <p:nvPr/>
        </p:nvSpPr>
        <p:spPr>
          <a:xfrm>
            <a:off x="4526280" y="3767400"/>
            <a:ext cx="32457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720" tIns="18360" rIns="5472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500" b="1" u="none" strike="noStrike">
                <a:solidFill>
                  <a:srgbClr val="1466A5"/>
                </a:solidFill>
                <a:effectLst/>
                <a:uFillTx/>
                <a:latin typeface="Spectral"/>
              </a:rPr>
              <a:t>0 SCU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TextBox 8"/>
          <p:cNvSpPr/>
          <p:nvPr/>
        </p:nvSpPr>
        <p:spPr>
          <a:xfrm>
            <a:off x="4526280" y="4370760"/>
            <a:ext cx="324576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720" tIns="18360" rIns="5472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18313A"/>
                </a:solidFill>
                <a:effectLst/>
                <a:uFillTx/>
                <a:latin typeface="Atkinson Hyperlegible"/>
              </a:rPr>
              <a:t>One-period lag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Box 9"/>
          <p:cNvSpPr/>
          <p:nvPr/>
        </p:nvSpPr>
        <p:spPr>
          <a:xfrm>
            <a:off x="8275320" y="3767400"/>
            <a:ext cx="32457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720" tIns="18360" rIns="5472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500" b="1" u="none" strike="noStrike">
                <a:solidFill>
                  <a:srgbClr val="9C3F35"/>
                </a:solidFill>
                <a:effectLst/>
                <a:uFillTx/>
                <a:latin typeface="Spectral"/>
              </a:rPr>
              <a:t>45 SCU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Box 10"/>
          <p:cNvSpPr/>
          <p:nvPr/>
        </p:nvSpPr>
        <p:spPr>
          <a:xfrm>
            <a:off x="8275320" y="4370760"/>
            <a:ext cx="324576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720" tIns="18360" rIns="5472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18313A"/>
                </a:solidFill>
                <a:effectLst/>
                <a:uFillTx/>
                <a:latin typeface="Atkinson Hyperlegible"/>
              </a:rPr>
              <a:t>Two-period lag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Box 11"/>
          <p:cNvSpPr/>
          <p:nvPr/>
        </p:nvSpPr>
        <p:spPr>
          <a:xfrm>
            <a:off x="777240" y="5166360"/>
            <a:ext cx="1042380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720" tIns="18360" rIns="5472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58676D"/>
                </a:solidFill>
                <a:effectLst/>
                <a:uFillTx/>
                <a:latin typeface="Atkinson Hyperlegible"/>
              </a:rPr>
              <a:t>SYNTHETIC TEST DATA - internal output-format demonstration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Box 12"/>
          <p:cNvSpPr/>
          <p:nvPr/>
        </p:nvSpPr>
        <p:spPr>
          <a:xfrm>
            <a:off x="777240" y="5715000"/>
            <a:ext cx="104238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720" tIns="18360" rIns="5472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8676D"/>
                </a:solidFill>
                <a:effectLst/>
                <a:uFillTx/>
                <a:latin typeface="Atkinson Hyperlegible"/>
              </a:rPr>
              <a:t>SCU is not a real currency. Internal format test; no client or accounting conclusion.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Rectangle 1"/>
          <p:cNvSpPr/>
          <p:nvPr/>
        </p:nvSpPr>
        <p:spPr>
          <a:xfrm>
            <a:off x="0" y="0"/>
            <a:ext cx="12191400" cy="109440"/>
          </a:xfrm>
          <a:prstGeom prst="rect">
            <a:avLst/>
          </a:prstGeom>
          <a:solidFill>
            <a:srgbClr val="176B6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4" name="TextBox 2"/>
          <p:cNvSpPr/>
          <p:nvPr/>
        </p:nvSpPr>
        <p:spPr>
          <a:xfrm>
            <a:off x="685800" y="594360"/>
            <a:ext cx="1078956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720" tIns="18360" rIns="5472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500" b="1" u="none" strike="noStrike">
                <a:solidFill>
                  <a:srgbClr val="18313A"/>
                </a:solidFill>
                <a:effectLst/>
                <a:uFillTx/>
                <a:latin typeface="Spectral"/>
              </a:rPr>
              <a:t>The scenario holds billings and costs constant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Rounded Rectangle 3"/>
          <p:cNvSpPr/>
          <p:nvPr/>
        </p:nvSpPr>
        <p:spPr>
          <a:xfrm>
            <a:off x="777240" y="1874520"/>
            <a:ext cx="3245760" cy="18284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D9E1D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6" name="TextBox 4"/>
          <p:cNvSpPr/>
          <p:nvPr/>
        </p:nvSpPr>
        <p:spPr>
          <a:xfrm>
            <a:off x="960120" y="2148840"/>
            <a:ext cx="292572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720" tIns="18360" rIns="54720" bIns="18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2500" b="1" u="none" strike="noStrike">
                <a:solidFill>
                  <a:srgbClr val="176B68"/>
                </a:solidFill>
                <a:effectLst/>
                <a:uFillTx/>
                <a:latin typeface="Spectral"/>
              </a:rPr>
              <a:t>400 SCU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Box 5"/>
          <p:cNvSpPr/>
          <p:nvPr/>
        </p:nvSpPr>
        <p:spPr>
          <a:xfrm>
            <a:off x="960120" y="2743200"/>
            <a:ext cx="29257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720" tIns="18360" rIns="54720" bIns="18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18313A"/>
                </a:solidFill>
                <a:effectLst/>
                <a:uFillTx/>
                <a:latin typeface="Atkinson Hyperlegible"/>
              </a:rPr>
              <a:t>Billings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Box 6"/>
          <p:cNvSpPr/>
          <p:nvPr/>
        </p:nvSpPr>
        <p:spPr>
          <a:xfrm>
            <a:off x="960120" y="3154680"/>
            <a:ext cx="29257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720" tIns="18360" rIns="54720" bIns="18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8676D"/>
                </a:solidFill>
                <a:effectLst/>
                <a:uFillTx/>
                <a:latin typeface="Atkinson Hyperlegible"/>
              </a:rPr>
              <a:t>same in all cases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Rounded Rectangle 7"/>
          <p:cNvSpPr/>
          <p:nvPr/>
        </p:nvSpPr>
        <p:spPr>
          <a:xfrm>
            <a:off x="4526280" y="1874520"/>
            <a:ext cx="3245760" cy="18284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D9E1D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0" name="TextBox 8"/>
          <p:cNvSpPr/>
          <p:nvPr/>
        </p:nvSpPr>
        <p:spPr>
          <a:xfrm>
            <a:off x="4709160" y="2148840"/>
            <a:ext cx="292572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720" tIns="18360" rIns="54720" bIns="18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2500" b="1" u="none" strike="noStrike">
                <a:solidFill>
                  <a:srgbClr val="1466A5"/>
                </a:solidFill>
                <a:effectLst/>
                <a:uFillTx/>
                <a:latin typeface="Spectral"/>
              </a:rPr>
              <a:t>240 SCU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TextBox 9"/>
          <p:cNvSpPr/>
          <p:nvPr/>
        </p:nvSpPr>
        <p:spPr>
          <a:xfrm>
            <a:off x="4709160" y="2743200"/>
            <a:ext cx="29257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720" tIns="18360" rIns="54720" bIns="18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18313A"/>
                </a:solidFill>
                <a:effectLst/>
                <a:uFillTx/>
                <a:latin typeface="Atkinson Hyperlegible"/>
              </a:rPr>
              <a:t>Cash costs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Box 10"/>
          <p:cNvSpPr/>
          <p:nvPr/>
        </p:nvSpPr>
        <p:spPr>
          <a:xfrm>
            <a:off x="4709160" y="3154680"/>
            <a:ext cx="29257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720" tIns="18360" rIns="54720" bIns="18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8676D"/>
                </a:solidFill>
                <a:effectLst/>
                <a:uFillTx/>
                <a:latin typeface="Atkinson Hyperlegible"/>
              </a:rPr>
              <a:t>same in all cases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Rounded Rectangle 11"/>
          <p:cNvSpPr/>
          <p:nvPr/>
        </p:nvSpPr>
        <p:spPr>
          <a:xfrm>
            <a:off x="8275320" y="1874520"/>
            <a:ext cx="3245760" cy="18284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D9E1D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4" name="TextBox 12"/>
          <p:cNvSpPr/>
          <p:nvPr/>
        </p:nvSpPr>
        <p:spPr>
          <a:xfrm>
            <a:off x="8458200" y="2148840"/>
            <a:ext cx="292572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720" tIns="18360" rIns="54720" bIns="18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2500" b="1" u="none" strike="noStrike">
                <a:solidFill>
                  <a:srgbClr val="9C3F35"/>
                </a:solidFill>
                <a:effectLst/>
                <a:uFillTx/>
                <a:latin typeface="Spectral"/>
              </a:rPr>
              <a:t>75 SCU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TextBox 13"/>
          <p:cNvSpPr/>
          <p:nvPr/>
        </p:nvSpPr>
        <p:spPr>
          <a:xfrm>
            <a:off x="8458200" y="2743200"/>
            <a:ext cx="29257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720" tIns="18360" rIns="54720" bIns="18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18313A"/>
                </a:solidFill>
                <a:effectLst/>
                <a:uFillTx/>
                <a:latin typeface="Atkinson Hyperlegible"/>
              </a:rPr>
              <a:t>Available buffer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TextBox 14"/>
          <p:cNvSpPr/>
          <p:nvPr/>
        </p:nvSpPr>
        <p:spPr>
          <a:xfrm>
            <a:off x="8458200" y="3154680"/>
            <a:ext cx="29257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720" tIns="18360" rIns="54720" bIns="18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8676D"/>
                </a:solidFill>
                <a:effectLst/>
                <a:uFillTx/>
                <a:latin typeface="Atkinson Hyperlegible"/>
              </a:rPr>
              <a:t>assumption only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Box 15"/>
          <p:cNvSpPr/>
          <p:nvPr/>
        </p:nvSpPr>
        <p:spPr>
          <a:xfrm>
            <a:off x="777240" y="4754880"/>
            <a:ext cx="1060668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720" tIns="18360" rIns="5472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58676D"/>
                </a:solidFill>
                <a:effectLst/>
                <a:uFillTx/>
                <a:latin typeface="Atkinson Hyperlegible"/>
              </a:rPr>
              <a:t>Assumptions are artificial test inputs; the fixture does not model revenue recognition, taxes, customer credit risk or actual financing.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Rectangle 1"/>
          <p:cNvSpPr/>
          <p:nvPr/>
        </p:nvSpPr>
        <p:spPr>
          <a:xfrm>
            <a:off x="0" y="0"/>
            <a:ext cx="12191400" cy="109440"/>
          </a:xfrm>
          <a:prstGeom prst="rect">
            <a:avLst/>
          </a:prstGeom>
          <a:solidFill>
            <a:srgbClr val="176B6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9" name="TextBox 2"/>
          <p:cNvSpPr/>
          <p:nvPr/>
        </p:nvSpPr>
        <p:spPr>
          <a:xfrm>
            <a:off x="685800" y="594360"/>
            <a:ext cx="1078956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720" tIns="18360" rIns="5472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500" b="1" u="none" strike="noStrike">
                <a:solidFill>
                  <a:srgbClr val="18313A"/>
                </a:solidFill>
                <a:effectLst/>
                <a:uFillTx/>
                <a:latin typeface="Spectral"/>
              </a:rPr>
              <a:t>Buffer gap by collection delay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0" name="Picture 3" descr="Three-case synthetic comparison of the gap beyond an assumed 75 SCU buffer. 0-period lag: 0 SCU; 1-period lag: 0 SCU; 2-period lag: 45 SCU."/>
          <p:cNvPicPr/>
          <p:nvPr/>
        </p:nvPicPr>
        <p:blipFill>
          <a:blip r:embed="rId1"/>
          <a:stretch/>
        </p:blipFill>
        <p:spPr>
          <a:xfrm>
            <a:off x="1143000" y="1353240"/>
            <a:ext cx="8823600" cy="496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1" name="TextBox 4"/>
          <p:cNvSpPr/>
          <p:nvPr/>
        </p:nvSpPr>
        <p:spPr>
          <a:xfrm>
            <a:off x="868680" y="6537960"/>
            <a:ext cx="103323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720" tIns="18360" rIns="5472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58676D"/>
                </a:solidFill>
                <a:effectLst/>
                <a:uFillTx/>
                <a:latin typeface="Atkinson Hyperlegible"/>
              </a:rPr>
              <a:t>Synthetic calculation; not a forecast or committed funding gap.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Rectangle 1"/>
          <p:cNvSpPr/>
          <p:nvPr/>
        </p:nvSpPr>
        <p:spPr>
          <a:xfrm>
            <a:off x="0" y="0"/>
            <a:ext cx="12191400" cy="109440"/>
          </a:xfrm>
          <a:prstGeom prst="rect">
            <a:avLst/>
          </a:prstGeom>
          <a:solidFill>
            <a:srgbClr val="176B6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3" name="TextBox 2"/>
          <p:cNvSpPr/>
          <p:nvPr/>
        </p:nvSpPr>
        <p:spPr>
          <a:xfrm>
            <a:off x="685800" y="594360"/>
            <a:ext cx="1078956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720" tIns="18360" rIns="5472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500" b="1" u="none" strike="noStrike">
                <a:solidFill>
                  <a:srgbClr val="18313A"/>
                </a:solidFill>
                <a:effectLst/>
                <a:uFillTx/>
                <a:latin typeface="Spectral"/>
              </a:rPr>
              <a:t>Only receipt timing changes across the three cases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TextBox 3"/>
          <p:cNvSpPr/>
          <p:nvPr/>
        </p:nvSpPr>
        <p:spPr>
          <a:xfrm>
            <a:off x="822960" y="1645920"/>
            <a:ext cx="15541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720" tIns="18360" rIns="5472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176B68"/>
                </a:solidFill>
                <a:effectLst/>
                <a:uFillTx/>
                <a:latin typeface="Atkinson Hyperlegible"/>
              </a:rPr>
              <a:t>Lag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TextBox 4"/>
          <p:cNvSpPr/>
          <p:nvPr/>
        </p:nvSpPr>
        <p:spPr>
          <a:xfrm>
            <a:off x="2743200" y="1645920"/>
            <a:ext cx="15541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720" tIns="18360" rIns="5472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176B68"/>
                </a:solidFill>
                <a:effectLst/>
                <a:uFillTx/>
                <a:latin typeface="Atkinson Hyperlegible"/>
              </a:rPr>
              <a:t>Cash trough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TextBox 5"/>
          <p:cNvSpPr/>
          <p:nvPr/>
        </p:nvSpPr>
        <p:spPr>
          <a:xfrm>
            <a:off x="4572000" y="1645920"/>
            <a:ext cx="15541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720" tIns="18360" rIns="5472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176B68"/>
                </a:solidFill>
                <a:effectLst/>
                <a:uFillTx/>
                <a:latin typeface="Atkinson Hyperlegible"/>
              </a:rPr>
              <a:t>Funding need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TextBox 6"/>
          <p:cNvSpPr/>
          <p:nvPr/>
        </p:nvSpPr>
        <p:spPr>
          <a:xfrm>
            <a:off x="6400800" y="1645920"/>
            <a:ext cx="15541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720" tIns="18360" rIns="5472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176B68"/>
                </a:solidFill>
                <a:effectLst/>
                <a:uFillTx/>
                <a:latin typeface="Atkinson Hyperlegible"/>
              </a:rPr>
              <a:t>Buffer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TextBox 7"/>
          <p:cNvSpPr/>
          <p:nvPr/>
        </p:nvSpPr>
        <p:spPr>
          <a:xfrm>
            <a:off x="8229600" y="1645920"/>
            <a:ext cx="15541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720" tIns="18360" rIns="5472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176B68"/>
                </a:solidFill>
                <a:effectLst/>
                <a:uFillTx/>
                <a:latin typeface="Atkinson Hyperlegible"/>
              </a:rPr>
              <a:t>Gap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TextBox 8"/>
          <p:cNvSpPr/>
          <p:nvPr/>
        </p:nvSpPr>
        <p:spPr>
          <a:xfrm>
            <a:off x="9966960" y="1645920"/>
            <a:ext cx="15541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720" tIns="18360" rIns="5472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176B68"/>
                </a:solidFill>
                <a:effectLst/>
                <a:uFillTx/>
                <a:latin typeface="Atkinson Hyperlegible"/>
              </a:rPr>
              <a:t>Ending AR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Rectangle 9"/>
          <p:cNvSpPr/>
          <p:nvPr/>
        </p:nvSpPr>
        <p:spPr>
          <a:xfrm>
            <a:off x="731520" y="2221920"/>
            <a:ext cx="10743840" cy="731160"/>
          </a:xfrm>
          <a:prstGeom prst="rect">
            <a:avLst/>
          </a:prstGeom>
          <a:solidFill>
            <a:srgbClr val="EAF0E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1" name="TextBox 10"/>
          <p:cNvSpPr/>
          <p:nvPr/>
        </p:nvSpPr>
        <p:spPr>
          <a:xfrm>
            <a:off x="822960" y="2331720"/>
            <a:ext cx="155412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720" tIns="18360" rIns="5472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18313A"/>
                </a:solidFill>
                <a:effectLst/>
                <a:uFillTx/>
                <a:latin typeface="Atkinson Hyperlegible"/>
              </a:rPr>
              <a:t>0 period(s)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TextBox 11"/>
          <p:cNvSpPr/>
          <p:nvPr/>
        </p:nvSpPr>
        <p:spPr>
          <a:xfrm>
            <a:off x="2743200" y="2331720"/>
            <a:ext cx="155412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720" tIns="18360" rIns="5472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18313A"/>
                </a:solidFill>
                <a:effectLst/>
                <a:uFillTx/>
                <a:latin typeface="Atkinson Hyperlegible"/>
              </a:rPr>
              <a:t>0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TextBox 12"/>
          <p:cNvSpPr/>
          <p:nvPr/>
        </p:nvSpPr>
        <p:spPr>
          <a:xfrm>
            <a:off x="4572000" y="2331720"/>
            <a:ext cx="155412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720" tIns="18360" rIns="5472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18313A"/>
                </a:solidFill>
                <a:effectLst/>
                <a:uFillTx/>
                <a:latin typeface="Atkinson Hyperlegible"/>
              </a:rPr>
              <a:t>0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TextBox 13"/>
          <p:cNvSpPr/>
          <p:nvPr/>
        </p:nvSpPr>
        <p:spPr>
          <a:xfrm>
            <a:off x="6400800" y="2331720"/>
            <a:ext cx="155412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720" tIns="18360" rIns="5472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18313A"/>
                </a:solidFill>
                <a:effectLst/>
                <a:uFillTx/>
                <a:latin typeface="Atkinson Hyperlegible"/>
              </a:rPr>
              <a:t>75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Box 14"/>
          <p:cNvSpPr/>
          <p:nvPr/>
        </p:nvSpPr>
        <p:spPr>
          <a:xfrm>
            <a:off x="8229600" y="2331720"/>
            <a:ext cx="155412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720" tIns="18360" rIns="5472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18313A"/>
                </a:solidFill>
                <a:effectLst/>
                <a:uFillTx/>
                <a:latin typeface="Atkinson Hyperlegible"/>
              </a:rPr>
              <a:t>0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TextBox 15"/>
          <p:cNvSpPr/>
          <p:nvPr/>
        </p:nvSpPr>
        <p:spPr>
          <a:xfrm>
            <a:off x="9966960" y="2331720"/>
            <a:ext cx="155412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720" tIns="18360" rIns="5472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18313A"/>
                </a:solidFill>
                <a:effectLst/>
                <a:uFillTx/>
                <a:latin typeface="Atkinson Hyperlegible"/>
              </a:rPr>
              <a:t>0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TextBox 16"/>
          <p:cNvSpPr/>
          <p:nvPr/>
        </p:nvSpPr>
        <p:spPr>
          <a:xfrm>
            <a:off x="822960" y="3291840"/>
            <a:ext cx="155412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720" tIns="18360" rIns="5472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18313A"/>
                </a:solidFill>
                <a:effectLst/>
                <a:uFillTx/>
                <a:latin typeface="Atkinson Hyperlegible"/>
              </a:rPr>
              <a:t>1 period(s)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TextBox 17"/>
          <p:cNvSpPr/>
          <p:nvPr/>
        </p:nvSpPr>
        <p:spPr>
          <a:xfrm>
            <a:off x="2743200" y="3291840"/>
            <a:ext cx="155412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720" tIns="18360" rIns="5472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18313A"/>
                </a:solidFill>
                <a:effectLst/>
                <a:uFillTx/>
                <a:latin typeface="Atkinson Hyperlegible"/>
              </a:rPr>
              <a:t>-60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Box 18"/>
          <p:cNvSpPr/>
          <p:nvPr/>
        </p:nvSpPr>
        <p:spPr>
          <a:xfrm>
            <a:off x="4572000" y="3291840"/>
            <a:ext cx="155412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720" tIns="18360" rIns="5472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18313A"/>
                </a:solidFill>
                <a:effectLst/>
                <a:uFillTx/>
                <a:latin typeface="Atkinson Hyperlegible"/>
              </a:rPr>
              <a:t>60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TextBox 19"/>
          <p:cNvSpPr/>
          <p:nvPr/>
        </p:nvSpPr>
        <p:spPr>
          <a:xfrm>
            <a:off x="6400800" y="3291840"/>
            <a:ext cx="155412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720" tIns="18360" rIns="5472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18313A"/>
                </a:solidFill>
                <a:effectLst/>
                <a:uFillTx/>
                <a:latin typeface="Atkinson Hyperlegible"/>
              </a:rPr>
              <a:t>75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TextBox 20"/>
          <p:cNvSpPr/>
          <p:nvPr/>
        </p:nvSpPr>
        <p:spPr>
          <a:xfrm>
            <a:off x="8229600" y="3291840"/>
            <a:ext cx="155412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720" tIns="18360" rIns="5472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18313A"/>
                </a:solidFill>
                <a:effectLst/>
                <a:uFillTx/>
                <a:latin typeface="Atkinson Hyperlegible"/>
              </a:rPr>
              <a:t>0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TextBox 21"/>
          <p:cNvSpPr/>
          <p:nvPr/>
        </p:nvSpPr>
        <p:spPr>
          <a:xfrm>
            <a:off x="9966960" y="3291840"/>
            <a:ext cx="155412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720" tIns="18360" rIns="5472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18313A"/>
                </a:solidFill>
                <a:effectLst/>
                <a:uFillTx/>
                <a:latin typeface="Atkinson Hyperlegible"/>
              </a:rPr>
              <a:t>100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Rectangle 22"/>
          <p:cNvSpPr/>
          <p:nvPr/>
        </p:nvSpPr>
        <p:spPr>
          <a:xfrm>
            <a:off x="731520" y="4142160"/>
            <a:ext cx="10743840" cy="731160"/>
          </a:xfrm>
          <a:prstGeom prst="rect">
            <a:avLst/>
          </a:prstGeom>
          <a:solidFill>
            <a:srgbClr val="EAF0E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4" name="TextBox 23"/>
          <p:cNvSpPr/>
          <p:nvPr/>
        </p:nvSpPr>
        <p:spPr>
          <a:xfrm>
            <a:off x="822960" y="4251960"/>
            <a:ext cx="155412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720" tIns="18360" rIns="5472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18313A"/>
                </a:solidFill>
                <a:effectLst/>
                <a:uFillTx/>
                <a:latin typeface="Atkinson Hyperlegible"/>
              </a:rPr>
              <a:t>2 period(s)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TextBox 24"/>
          <p:cNvSpPr/>
          <p:nvPr/>
        </p:nvSpPr>
        <p:spPr>
          <a:xfrm>
            <a:off x="2743200" y="4251960"/>
            <a:ext cx="155412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720" tIns="18360" rIns="5472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18313A"/>
                </a:solidFill>
                <a:effectLst/>
                <a:uFillTx/>
                <a:latin typeface="Atkinson Hyperlegible"/>
              </a:rPr>
              <a:t>-120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TextBox 25"/>
          <p:cNvSpPr/>
          <p:nvPr/>
        </p:nvSpPr>
        <p:spPr>
          <a:xfrm>
            <a:off x="4572000" y="4251960"/>
            <a:ext cx="155412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720" tIns="18360" rIns="5472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18313A"/>
                </a:solidFill>
                <a:effectLst/>
                <a:uFillTx/>
                <a:latin typeface="Atkinson Hyperlegible"/>
              </a:rPr>
              <a:t>120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TextBox 26"/>
          <p:cNvSpPr/>
          <p:nvPr/>
        </p:nvSpPr>
        <p:spPr>
          <a:xfrm>
            <a:off x="6400800" y="4251960"/>
            <a:ext cx="155412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720" tIns="18360" rIns="5472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18313A"/>
                </a:solidFill>
                <a:effectLst/>
                <a:uFillTx/>
                <a:latin typeface="Atkinson Hyperlegible"/>
              </a:rPr>
              <a:t>75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TextBox 27"/>
          <p:cNvSpPr/>
          <p:nvPr/>
        </p:nvSpPr>
        <p:spPr>
          <a:xfrm>
            <a:off x="8229600" y="4251960"/>
            <a:ext cx="155412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720" tIns="18360" rIns="5472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18313A"/>
                </a:solidFill>
                <a:effectLst/>
                <a:uFillTx/>
                <a:latin typeface="Atkinson Hyperlegible"/>
              </a:rPr>
              <a:t>45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TextBox 28"/>
          <p:cNvSpPr/>
          <p:nvPr/>
        </p:nvSpPr>
        <p:spPr>
          <a:xfrm>
            <a:off x="9966960" y="4251960"/>
            <a:ext cx="155412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720" tIns="18360" rIns="5472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18313A"/>
                </a:solidFill>
                <a:effectLst/>
                <a:uFillTx/>
                <a:latin typeface="Atkinson Hyperlegible"/>
              </a:rPr>
              <a:t>200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TextBox 29"/>
          <p:cNvSpPr/>
          <p:nvPr/>
        </p:nvSpPr>
        <p:spPr>
          <a:xfrm>
            <a:off x="822960" y="5623560"/>
            <a:ext cx="106066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720" tIns="18360" rIns="5472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8676D"/>
                </a:solidFill>
                <a:effectLst/>
                <a:uFillTx/>
                <a:latin typeface="Atkinson Hyperlegible"/>
              </a:rPr>
              <a:t>Receivables are fixture billings not received by period 4; this is not an accounting subledger balance.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Rectangle 1"/>
          <p:cNvSpPr/>
          <p:nvPr/>
        </p:nvSpPr>
        <p:spPr>
          <a:xfrm>
            <a:off x="0" y="0"/>
            <a:ext cx="12191400" cy="109440"/>
          </a:xfrm>
          <a:prstGeom prst="rect">
            <a:avLst/>
          </a:prstGeom>
          <a:solidFill>
            <a:srgbClr val="176B6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2" name="TextBox 2"/>
          <p:cNvSpPr/>
          <p:nvPr/>
        </p:nvSpPr>
        <p:spPr>
          <a:xfrm>
            <a:off x="685800" y="594360"/>
            <a:ext cx="1078956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720" tIns="18360" rIns="5472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18313A"/>
                </a:solidFill>
                <a:effectLst/>
                <a:uFillTx/>
                <a:latin typeface="Spectral"/>
              </a:rPr>
              <a:t>Use this pack to test file production, not to approve a transaction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TextBox 3"/>
          <p:cNvSpPr/>
          <p:nvPr/>
        </p:nvSpPr>
        <p:spPr>
          <a:xfrm>
            <a:off x="914400" y="1600200"/>
            <a:ext cx="1033236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720" tIns="18360" rIns="5472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18313A"/>
                </a:solidFill>
                <a:effectLst/>
                <a:uFillTx/>
                <a:latin typeface="Atkinson Hyperlegible"/>
              </a:rPr>
              <a:t>01   Reporting entity, framework and transaction source: NOT ASSESSED.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TextBox 4"/>
          <p:cNvSpPr/>
          <p:nvPr/>
        </p:nvSpPr>
        <p:spPr>
          <a:xfrm>
            <a:off x="914400" y="2423160"/>
            <a:ext cx="1033236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720" tIns="18360" rIns="5472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18313A"/>
                </a:solidFill>
                <a:effectLst/>
                <a:uFillTx/>
                <a:latin typeface="Atkinson Hyperlegible"/>
              </a:rPr>
              <a:t>02   Tax, revenue recognition and statutory presentation: NOT ASSESSED.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TextBox 5"/>
          <p:cNvSpPr/>
          <p:nvPr/>
        </p:nvSpPr>
        <p:spPr>
          <a:xfrm>
            <a:off x="914400" y="3246120"/>
            <a:ext cx="1033236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720" tIns="18360" rIns="5472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18313A"/>
                </a:solidFill>
                <a:effectLst/>
                <a:uFillTx/>
                <a:latin typeface="Atkinson Hyperlegible"/>
              </a:rPr>
              <a:t>03   Independent Controller, language-owner and client review: NOT ASSESSED.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TextBox 6"/>
          <p:cNvSpPr/>
          <p:nvPr/>
        </p:nvSpPr>
        <p:spPr>
          <a:xfrm>
            <a:off x="914400" y="4069080"/>
            <a:ext cx="1033236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720" tIns="18360" rIns="5472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1" u="none" strike="noStrike">
                <a:solidFill>
                  <a:srgbClr val="176B68"/>
                </a:solidFill>
                <a:effectLst/>
                <a:uFillTx/>
                <a:latin typeface="Atkinson Hyperlegible"/>
              </a:rPr>
              <a:t>04   Before real use, reperform against an approved source contract and reconcile outputs.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TextBox 7"/>
          <p:cNvSpPr/>
          <p:nvPr/>
        </p:nvSpPr>
        <p:spPr>
          <a:xfrm>
            <a:off x="868680" y="5623560"/>
            <a:ext cx="1033236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720" tIns="18360" rIns="5472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8676D"/>
                </a:solidFill>
                <a:effectLst/>
                <a:uFillTx/>
                <a:latin typeface="Atkinson Hyperlegible"/>
              </a:rPr>
              <a:t>No client, market, tax or financing claim is made. Do not publish or use as a client pack.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</TotalTime>
  <Application>LibreOffice/26.2.4.2$Windows_X86_64 LibreOffice_project/0229ac93fcf0d7cbc6376066c6f35021cef002dc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>Steve Canny</cp:lastModifiedBy>
  <dcterms:modified xsi:type="dcterms:W3CDTF">2013-01-27T09:15:58Z</dcterms:modified>
  <cp:revision>1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