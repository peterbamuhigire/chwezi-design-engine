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987FCA-15DD-40E9-90C8-26D9F1D291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6DBD13-B143-4FEE-9EC2-CDC1B41D1C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0F9863-FB51-4DA9-A2D3-363D6DD7A7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E5E218-622D-4058-AB9E-B14BE030FE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0C0623-D516-4F84-B4D5-58F61CFC2D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9F37A6-8C91-4FAA-8E75-3B26C7C3C0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583F41-DF18-4EEA-B467-0AD84000FB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F5C7D7-BE69-4E65-9220-986006FA1B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817A89-C576-40B8-87BB-C4D230EACF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0B2530-C07E-47C3-9A6B-AADBB6E58D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70EEBE-0AE3-4D4A-9820-F2B25E4FB5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76B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31520" y="96012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8313A"/>
                </a:solidFill>
                <a:effectLst/>
                <a:uFillTx/>
                <a:latin typeface="Spectral"/>
              </a:rPr>
              <a:t>Collection delay shifts cash needs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77240" y="182880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A four-period synthetic fixture keeps billings and cash costs fixed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77240" y="333756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UNFUNDED GAP AFTER THE ASSUMED BUFFER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77240" y="3767400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76B68"/>
                </a:solidFill>
                <a:effectLst/>
                <a:uFillTx/>
                <a:latin typeface="Spectral"/>
              </a:rPr>
              <a:t>0 SCU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77240" y="43707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No lag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4526280" y="3767400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66A5"/>
                </a:solidFill>
                <a:effectLst/>
                <a:uFillTx/>
                <a:latin typeface="Spectral"/>
              </a:rPr>
              <a:t>0 SCU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526280" y="43707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One-period lag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8275320" y="3767400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9C3F35"/>
                </a:solidFill>
                <a:effectLst/>
                <a:uFillTx/>
                <a:latin typeface="Spectral"/>
              </a:rPr>
              <a:t>45 SCU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8275320" y="437076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Two-period lag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777240" y="5166360"/>
            <a:ext cx="10423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SYNTHETIC TEST DATA - internal output-format demonstration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777240" y="571500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SCU is not a real currency. Internal format test; no client or accounting conclusion.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76B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685800" y="59436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8313A"/>
                </a:solidFill>
                <a:effectLst/>
                <a:uFillTx/>
                <a:latin typeface="Spectral"/>
              </a:rPr>
              <a:t>The scenario holds billings and costs constant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3"/>
          <p:cNvSpPr/>
          <p:nvPr/>
        </p:nvSpPr>
        <p:spPr>
          <a:xfrm>
            <a:off x="777240" y="1874520"/>
            <a:ext cx="32457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E1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960120" y="21488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76B68"/>
                </a:solidFill>
                <a:effectLst/>
                <a:uFillTx/>
                <a:latin typeface="Spectral"/>
              </a:rPr>
              <a:t>400 SCU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960120" y="2743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Billings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960120" y="3154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same in all cases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4526280" y="1874520"/>
            <a:ext cx="32457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E1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4709160" y="21488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466A5"/>
                </a:solidFill>
                <a:effectLst/>
                <a:uFillTx/>
                <a:latin typeface="Spectral"/>
              </a:rPr>
              <a:t>240 SCU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4709160" y="2743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Cash costs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4709160" y="3154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same in all cases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11"/>
          <p:cNvSpPr/>
          <p:nvPr/>
        </p:nvSpPr>
        <p:spPr>
          <a:xfrm>
            <a:off x="8275320" y="1874520"/>
            <a:ext cx="32457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E1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8458200" y="214884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9C3F35"/>
                </a:solidFill>
                <a:effectLst/>
                <a:uFillTx/>
                <a:latin typeface="Spectral"/>
              </a:rPr>
              <a:t>75 SCU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8458200" y="2743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Available buffer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4"/>
          <p:cNvSpPr/>
          <p:nvPr/>
        </p:nvSpPr>
        <p:spPr>
          <a:xfrm>
            <a:off x="8458200" y="3154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assumption only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777240" y="475488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Assumptions are artificial test inputs; the fixture does not model revenue recognition, taxes, customer credit risk or actual financing.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76B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685800" y="59436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8313A"/>
                </a:solidFill>
                <a:effectLst/>
                <a:uFillTx/>
                <a:latin typeface="Spectral"/>
              </a:rPr>
              <a:t>Buffer gap by collection delay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3" descr="Three-case synthetic comparison of gap beyond an assumed 75 SCU buffer: 0 SCU with no lag, 0 SCU with a one-period lag, 45 SCU with a two-period lag."/>
          <p:cNvPicPr/>
          <p:nvPr/>
        </p:nvPicPr>
        <p:blipFill>
          <a:blip r:embed="rId1"/>
          <a:stretch/>
        </p:blipFill>
        <p:spPr>
          <a:xfrm>
            <a:off x="1143000" y="1353240"/>
            <a:ext cx="8823600" cy="49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4"/>
          <p:cNvSpPr/>
          <p:nvPr/>
        </p:nvSpPr>
        <p:spPr>
          <a:xfrm>
            <a:off x="868680" y="6537960"/>
            <a:ext cx="10332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Synthetic calculation; not a forecast or committed funding gap.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76B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685800" y="59436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8313A"/>
                </a:solidFill>
                <a:effectLst/>
                <a:uFillTx/>
                <a:latin typeface="Spectral"/>
              </a:rPr>
              <a:t>Only receipt timing changes across the three cases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822960" y="164592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Lag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2743200" y="164592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Cash trough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4572000" y="164592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Funding need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6400800" y="164592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Buffer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8229600" y="164592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Gap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9966960" y="164592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Ending 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9"/>
          <p:cNvSpPr/>
          <p:nvPr/>
        </p:nvSpPr>
        <p:spPr>
          <a:xfrm>
            <a:off x="731520" y="2221920"/>
            <a:ext cx="10743840" cy="731160"/>
          </a:xfrm>
          <a:prstGeom prst="rect">
            <a:avLst/>
          </a:prstGeom>
          <a:solidFill>
            <a:srgbClr val="EAF0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822960" y="233172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 period(s)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2743200" y="233172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4572000" y="233172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3"/>
          <p:cNvSpPr/>
          <p:nvPr/>
        </p:nvSpPr>
        <p:spPr>
          <a:xfrm>
            <a:off x="6400800" y="233172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4"/>
          <p:cNvSpPr/>
          <p:nvPr/>
        </p:nvSpPr>
        <p:spPr>
          <a:xfrm>
            <a:off x="8229600" y="233172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5"/>
          <p:cNvSpPr/>
          <p:nvPr/>
        </p:nvSpPr>
        <p:spPr>
          <a:xfrm>
            <a:off x="9966960" y="233172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6"/>
          <p:cNvSpPr/>
          <p:nvPr/>
        </p:nvSpPr>
        <p:spPr>
          <a:xfrm>
            <a:off x="822960" y="32918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1 period(s)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7"/>
          <p:cNvSpPr/>
          <p:nvPr/>
        </p:nvSpPr>
        <p:spPr>
          <a:xfrm>
            <a:off x="2743200" y="32918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-60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8"/>
          <p:cNvSpPr/>
          <p:nvPr/>
        </p:nvSpPr>
        <p:spPr>
          <a:xfrm>
            <a:off x="4572000" y="32918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60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9"/>
          <p:cNvSpPr/>
          <p:nvPr/>
        </p:nvSpPr>
        <p:spPr>
          <a:xfrm>
            <a:off x="6400800" y="32918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0"/>
          <p:cNvSpPr/>
          <p:nvPr/>
        </p:nvSpPr>
        <p:spPr>
          <a:xfrm>
            <a:off x="8229600" y="32918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1"/>
          <p:cNvSpPr/>
          <p:nvPr/>
        </p:nvSpPr>
        <p:spPr>
          <a:xfrm>
            <a:off x="9966960" y="32918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100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22"/>
          <p:cNvSpPr/>
          <p:nvPr/>
        </p:nvSpPr>
        <p:spPr>
          <a:xfrm>
            <a:off x="731520" y="4142160"/>
            <a:ext cx="10743840" cy="731160"/>
          </a:xfrm>
          <a:prstGeom prst="rect">
            <a:avLst/>
          </a:prstGeom>
          <a:solidFill>
            <a:srgbClr val="EAF0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3"/>
          <p:cNvSpPr/>
          <p:nvPr/>
        </p:nvSpPr>
        <p:spPr>
          <a:xfrm>
            <a:off x="822960" y="4251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2 period(s)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4"/>
          <p:cNvSpPr/>
          <p:nvPr/>
        </p:nvSpPr>
        <p:spPr>
          <a:xfrm>
            <a:off x="2743200" y="4251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-120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5"/>
          <p:cNvSpPr/>
          <p:nvPr/>
        </p:nvSpPr>
        <p:spPr>
          <a:xfrm>
            <a:off x="4572000" y="4251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120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6"/>
          <p:cNvSpPr/>
          <p:nvPr/>
        </p:nvSpPr>
        <p:spPr>
          <a:xfrm>
            <a:off x="6400800" y="4251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7"/>
          <p:cNvSpPr/>
          <p:nvPr/>
        </p:nvSpPr>
        <p:spPr>
          <a:xfrm>
            <a:off x="8229600" y="4251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45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8"/>
          <p:cNvSpPr/>
          <p:nvPr/>
        </p:nvSpPr>
        <p:spPr>
          <a:xfrm>
            <a:off x="9966960" y="425196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200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9"/>
          <p:cNvSpPr/>
          <p:nvPr/>
        </p:nvSpPr>
        <p:spPr>
          <a:xfrm>
            <a:off x="822960" y="562356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Receivables are fixture billings not received by period 4; this is not an accounting subledger balance.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76B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685800" y="59436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8313A"/>
                </a:solidFill>
                <a:effectLst/>
                <a:uFillTx/>
                <a:latin typeface="Spectral"/>
              </a:rPr>
              <a:t>Use this pack to test file production, not to approve a transaction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914400" y="1600200"/>
            <a:ext cx="10332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01   Reporting entity, framework and transaction source: NOT ASSESSED.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914400" y="2423160"/>
            <a:ext cx="10332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02   Tax, revenue recognition and statutory presentation: NOT ASSESSED.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914400" y="3246120"/>
            <a:ext cx="10332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8313A"/>
                </a:solidFill>
                <a:effectLst/>
                <a:uFillTx/>
                <a:latin typeface="Atkinson Hyperlegible"/>
              </a:rPr>
              <a:t>03   Independent Controller, language-owner and client review: NOT ASSESSED.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914400" y="4069080"/>
            <a:ext cx="10332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6B68"/>
                </a:solidFill>
                <a:effectLst/>
                <a:uFillTx/>
                <a:latin typeface="Atkinson Hyperlegible"/>
              </a:rPr>
              <a:t>04   Before real use, reperform against an approved source contract and reconcile outputs.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868680" y="5623560"/>
            <a:ext cx="10332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18360" rIns="5472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58676D"/>
                </a:solidFill>
                <a:effectLst/>
                <a:uFillTx/>
                <a:latin typeface="Atkinson Hyperlegible"/>
              </a:rPr>
              <a:t>No client, market, tax or financing claim is made. Do not publish or use as a client pack.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