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6B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07040" cy="64008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3000" b="1">
                <a:solidFill>
                  <a:srgbClr val="18313A"/>
                </a:solidFill>
                <a:latin typeface="Spectral"/>
              </a:rPr>
              <a:t>Collection delay shifts cash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9875520" cy="64008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800" b="0">
                <a:solidFill>
                  <a:srgbClr val="176B68"/>
                </a:solidFill>
                <a:latin typeface="Atkinson Hyperlegible"/>
              </a:rPr>
              <a:t>A four-period synthetic fixture keeps billings and cash costs 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515600" cy="3200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100" b="1">
                <a:solidFill>
                  <a:srgbClr val="58676D"/>
                </a:solidFill>
                <a:latin typeface="Atkinson Hyperlegible"/>
              </a:rPr>
              <a:t>UNFUNDED GAP AFTER THE ASSUMED BUFFER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67328"/>
            <a:ext cx="3246120" cy="50292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2500" b="1">
                <a:solidFill>
                  <a:srgbClr val="176B68"/>
                </a:solidFill>
                <a:latin typeface="Spectral"/>
              </a:rPr>
              <a:t>0 SCU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70832"/>
            <a:ext cx="3246120" cy="34747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1">
                <a:solidFill>
                  <a:srgbClr val="18313A"/>
                </a:solidFill>
                <a:latin typeface="Atkinson Hyperlegible"/>
              </a:rPr>
              <a:t>No lag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79" y="3767328"/>
            <a:ext cx="3246120" cy="50292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2500" b="1">
                <a:solidFill>
                  <a:srgbClr val="1466A5"/>
                </a:solidFill>
                <a:latin typeface="Spectral"/>
              </a:rPr>
              <a:t>0 SCU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79" y="4370832"/>
            <a:ext cx="3246120" cy="34747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1">
                <a:solidFill>
                  <a:srgbClr val="18313A"/>
                </a:solidFill>
                <a:latin typeface="Atkinson Hyperlegible"/>
              </a:rPr>
              <a:t>One-period lag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19" y="3767328"/>
            <a:ext cx="3246120" cy="50292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2500" b="1">
                <a:solidFill>
                  <a:srgbClr val="9C3F35"/>
                </a:solidFill>
                <a:latin typeface="Spectral"/>
              </a:rPr>
              <a:t>45 SCU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4370832"/>
            <a:ext cx="3246120" cy="34747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1">
                <a:solidFill>
                  <a:srgbClr val="18313A"/>
                </a:solidFill>
                <a:latin typeface="Atkinson Hyperlegible"/>
              </a:rPr>
              <a:t>Two-period lag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166360"/>
            <a:ext cx="10424160" cy="41148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100" b="1">
                <a:solidFill>
                  <a:srgbClr val="58676D"/>
                </a:solidFill>
                <a:latin typeface="Atkinson Hyperlegible"/>
              </a:rPr>
              <a:t>SYNTHETIC TEST DATA - internal output-format demonstration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424160" cy="45720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000" b="0">
                <a:solidFill>
                  <a:srgbClr val="58676D"/>
                </a:solidFill>
                <a:latin typeface="Atkinson Hyperlegible"/>
              </a:rPr>
              <a:t>SCU is not a real currency. Internal format test; no client or accounting conclusion.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6B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789920" cy="5486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2500" b="1">
                <a:solidFill>
                  <a:srgbClr val="18313A"/>
                </a:solidFill>
                <a:latin typeface="Spectral"/>
              </a:rPr>
              <a:t>The scenario holds billings and costs constant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74519"/>
            <a:ext cx="32461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9E1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2926080" cy="5486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ctr"/>
            <a:r>
              <a:rPr sz="2500" b="1">
                <a:solidFill>
                  <a:srgbClr val="176B68"/>
                </a:solidFill>
                <a:latin typeface="Spectral"/>
              </a:rPr>
              <a:t>400 SCU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743200"/>
            <a:ext cx="2926080" cy="36576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ctr"/>
            <a:r>
              <a:rPr sz="1400" b="1">
                <a:solidFill>
                  <a:srgbClr val="18313A"/>
                </a:solidFill>
                <a:latin typeface="Atkinson Hyperlegible"/>
              </a:rPr>
              <a:t>Billings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154680"/>
            <a:ext cx="2926080" cy="3200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ctr"/>
            <a:r>
              <a:rPr sz="1000" b="0">
                <a:solidFill>
                  <a:srgbClr val="58676D"/>
                </a:solidFill>
                <a:latin typeface="Atkinson Hyperlegible"/>
              </a:rPr>
              <a:t>same in all cases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79" y="1874519"/>
            <a:ext cx="32461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9E1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2148840"/>
            <a:ext cx="2926080" cy="5486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ctr"/>
            <a:r>
              <a:rPr sz="2500" b="1">
                <a:solidFill>
                  <a:srgbClr val="1466A5"/>
                </a:solidFill>
                <a:latin typeface="Spectral"/>
              </a:rPr>
              <a:t>240 SCU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743200"/>
            <a:ext cx="2926080" cy="36576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ctr"/>
            <a:r>
              <a:rPr sz="1400" b="1">
                <a:solidFill>
                  <a:srgbClr val="18313A"/>
                </a:solidFill>
                <a:latin typeface="Atkinson Hyperlegible"/>
              </a:rPr>
              <a:t>Cash costs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3154680"/>
            <a:ext cx="2926080" cy="3200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ctr"/>
            <a:r>
              <a:rPr sz="1000" b="0">
                <a:solidFill>
                  <a:srgbClr val="58676D"/>
                </a:solidFill>
                <a:latin typeface="Atkinson Hyperlegible"/>
              </a:rPr>
              <a:t>same in all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19" y="1874519"/>
            <a:ext cx="32461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9E1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199" y="2148840"/>
            <a:ext cx="2926080" cy="5486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ctr"/>
            <a:r>
              <a:rPr sz="2500" b="1">
                <a:solidFill>
                  <a:srgbClr val="9C3F35"/>
                </a:solidFill>
                <a:latin typeface="Spectral"/>
              </a:rPr>
              <a:t>75 SCU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199" y="2743200"/>
            <a:ext cx="2926080" cy="36576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ctr"/>
            <a:r>
              <a:rPr sz="1400" b="1">
                <a:solidFill>
                  <a:srgbClr val="18313A"/>
                </a:solidFill>
                <a:latin typeface="Atkinson Hyperlegible"/>
              </a:rPr>
              <a:t>Available buffer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199" y="3154680"/>
            <a:ext cx="2926080" cy="3200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ctr"/>
            <a:r>
              <a:rPr sz="1000" b="0">
                <a:solidFill>
                  <a:srgbClr val="58676D"/>
                </a:solidFill>
                <a:latin typeface="Atkinson Hyperlegible"/>
              </a:rPr>
              <a:t>assumption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754880"/>
            <a:ext cx="10607040" cy="73152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0">
                <a:solidFill>
                  <a:srgbClr val="58676D"/>
                </a:solidFill>
                <a:latin typeface="Atkinson Hyperlegible"/>
              </a:rPr>
              <a:t>Assumptions are artificial test inputs; the fixture does not model revenue recognition, taxes, customer credit risk or actual financing.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6B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789920" cy="5486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2500" b="1">
                <a:solidFill>
                  <a:srgbClr val="18313A"/>
                </a:solidFill>
                <a:latin typeface="Spectral"/>
              </a:rPr>
              <a:t>Buffer gap by collection delay</a:t>
            </a:r>
          </a:p>
        </p:txBody>
      </p:sp>
      <p:pic>
        <p:nvPicPr>
          <p:cNvPr id="4" name="Picture 3" descr="Three-case synthetic comparison of gap beyond an assumed 75 SCU buffer: 0 SCU with no lag, 0 SCU with a one-period lag, 45 SCU with a two-period la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353312"/>
            <a:ext cx="8823960" cy="49634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6537960"/>
            <a:ext cx="10332720" cy="18288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800" b="0">
                <a:solidFill>
                  <a:srgbClr val="58676D"/>
                </a:solidFill>
                <a:latin typeface="Atkinson Hyperlegible"/>
              </a:rPr>
              <a:t>Synthetic calculation; not a forecast or committed funding gap.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6B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789920" cy="5486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2500" b="1">
                <a:solidFill>
                  <a:srgbClr val="18313A"/>
                </a:solidFill>
                <a:latin typeface="Spectral"/>
              </a:rPr>
              <a:t>Only receipt timing changes across the three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554480" cy="50292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1">
                <a:solidFill>
                  <a:srgbClr val="176B68"/>
                </a:solidFill>
                <a:latin typeface="Atkinson Hyperlegible"/>
              </a:rPr>
              <a:t>Lag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645920"/>
            <a:ext cx="1554480" cy="50292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1">
                <a:solidFill>
                  <a:srgbClr val="176B68"/>
                </a:solidFill>
                <a:latin typeface="Atkinson Hyperlegible"/>
              </a:rPr>
              <a:t>Cash trough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645920"/>
            <a:ext cx="1554480" cy="50292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1">
                <a:solidFill>
                  <a:srgbClr val="176B68"/>
                </a:solidFill>
                <a:latin typeface="Atkinson Hyperlegible"/>
              </a:rPr>
              <a:t>Funding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1554480" cy="50292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1">
                <a:solidFill>
                  <a:srgbClr val="176B68"/>
                </a:solidFill>
                <a:latin typeface="Atkinson Hyperlegible"/>
              </a:rPr>
              <a:t>Buffer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1554480" cy="50292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1">
                <a:solidFill>
                  <a:srgbClr val="176B68"/>
                </a:solidFill>
                <a:latin typeface="Atkinson Hyperlegible"/>
              </a:rPr>
              <a:t>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1645920"/>
            <a:ext cx="1554480" cy="50292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1">
                <a:solidFill>
                  <a:srgbClr val="176B68"/>
                </a:solidFill>
                <a:latin typeface="Atkinson Hyperlegible"/>
              </a:rPr>
              <a:t>Ending 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21991"/>
            <a:ext cx="10744200" cy="731520"/>
          </a:xfrm>
          <a:prstGeom prst="rect">
            <a:avLst/>
          </a:prstGeom>
          <a:solidFill>
            <a:srgbClr val="EA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1554480" cy="420624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0">
                <a:solidFill>
                  <a:srgbClr val="18313A"/>
                </a:solidFill>
                <a:latin typeface="Atkinson Hyperlegible"/>
              </a:rPr>
              <a:t>0 period(s)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331720"/>
            <a:ext cx="1554480" cy="420624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0">
                <a:solidFill>
                  <a:srgbClr val="18313A"/>
                </a:solidFill>
                <a:latin typeface="Atkinson Hyperlegible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331720"/>
            <a:ext cx="1554480" cy="420624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0">
                <a:solidFill>
                  <a:srgbClr val="18313A"/>
                </a:solidFill>
                <a:latin typeface="Atkinson Hyperlegible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31720"/>
            <a:ext cx="1554480" cy="420624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0">
                <a:solidFill>
                  <a:srgbClr val="18313A"/>
                </a:solidFill>
                <a:latin typeface="Atkinson Hyperlegible"/>
              </a:rPr>
              <a:t>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331720"/>
            <a:ext cx="1554480" cy="420624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0">
                <a:solidFill>
                  <a:srgbClr val="18313A"/>
                </a:solidFill>
                <a:latin typeface="Atkinson Hyperlegible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0" y="2331720"/>
            <a:ext cx="1554480" cy="420624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0">
                <a:solidFill>
                  <a:srgbClr val="18313A"/>
                </a:solidFill>
                <a:latin typeface="Atkinson Hyperlegible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91839"/>
            <a:ext cx="1554480" cy="420624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0">
                <a:solidFill>
                  <a:srgbClr val="18313A"/>
                </a:solidFill>
                <a:latin typeface="Atkinson Hyperlegible"/>
              </a:rPr>
              <a:t>1 period(s)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3291839"/>
            <a:ext cx="1554480" cy="420624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0">
                <a:solidFill>
                  <a:srgbClr val="18313A"/>
                </a:solidFill>
                <a:latin typeface="Atkinson Hyperlegible"/>
              </a:rPr>
              <a:t>-60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291839"/>
            <a:ext cx="1554480" cy="420624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0">
                <a:solidFill>
                  <a:srgbClr val="18313A"/>
                </a:solidFill>
                <a:latin typeface="Atkinson Hyperlegible"/>
              </a:rPr>
              <a:t>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291839"/>
            <a:ext cx="1554480" cy="420624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0">
                <a:solidFill>
                  <a:srgbClr val="18313A"/>
                </a:solidFill>
                <a:latin typeface="Atkinson Hyperlegible"/>
              </a:rPr>
              <a:t>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291839"/>
            <a:ext cx="1554480" cy="420624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0">
                <a:solidFill>
                  <a:srgbClr val="18313A"/>
                </a:solidFill>
                <a:latin typeface="Atkinson Hyperlegible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3291839"/>
            <a:ext cx="1554480" cy="420624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0">
                <a:solidFill>
                  <a:srgbClr val="18313A"/>
                </a:solidFill>
                <a:latin typeface="Atkinson Hyperlegible"/>
              </a:rPr>
              <a:t>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142232"/>
            <a:ext cx="10744200" cy="731520"/>
          </a:xfrm>
          <a:prstGeom prst="rect">
            <a:avLst/>
          </a:prstGeom>
          <a:solidFill>
            <a:srgbClr val="EA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251960"/>
            <a:ext cx="1554480" cy="420624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1">
                <a:solidFill>
                  <a:srgbClr val="18313A"/>
                </a:solidFill>
                <a:latin typeface="Atkinson Hyperlegible"/>
              </a:rPr>
              <a:t>2 period(s)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251960"/>
            <a:ext cx="1554480" cy="420624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1">
                <a:solidFill>
                  <a:srgbClr val="18313A"/>
                </a:solidFill>
                <a:latin typeface="Atkinson Hyperlegible"/>
              </a:rPr>
              <a:t>-120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251960"/>
            <a:ext cx="1554480" cy="420624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1">
                <a:solidFill>
                  <a:srgbClr val="18313A"/>
                </a:solidFill>
                <a:latin typeface="Atkinson Hyperlegible"/>
              </a:rPr>
              <a:t>120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251960"/>
            <a:ext cx="1554480" cy="420624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1">
                <a:solidFill>
                  <a:srgbClr val="18313A"/>
                </a:solidFill>
                <a:latin typeface="Atkinson Hyperlegible"/>
              </a:rPr>
              <a:t>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251960"/>
            <a:ext cx="1554480" cy="420624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1">
                <a:solidFill>
                  <a:srgbClr val="18313A"/>
                </a:solidFill>
                <a:latin typeface="Atkinson Hyperlegible"/>
              </a:rPr>
              <a:t>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4251960"/>
            <a:ext cx="1554480" cy="420624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300" b="1">
                <a:solidFill>
                  <a:srgbClr val="18313A"/>
                </a:solidFill>
                <a:latin typeface="Atkinson Hyperlegible"/>
              </a:rPr>
              <a:t>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623560"/>
            <a:ext cx="10607040" cy="5486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000" b="0">
                <a:solidFill>
                  <a:srgbClr val="58676D"/>
                </a:solidFill>
                <a:latin typeface="Atkinson Hyperlegible"/>
              </a:rPr>
              <a:t>Receivables are fixture billings not received by period 4; this is not an accounting subledger balance.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6B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789920" cy="5486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2400" b="1">
                <a:solidFill>
                  <a:srgbClr val="18313A"/>
                </a:solidFill>
                <a:latin typeface="Spectral"/>
              </a:rPr>
              <a:t>Use this pack to test file production, not to approve a transaction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53035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0">
                <a:solidFill>
                  <a:srgbClr val="18313A"/>
                </a:solidFill>
                <a:latin typeface="Atkinson Hyperlegible"/>
              </a:rPr>
              <a:t>01   Reporting entity, framework and transaction source: NOT ASSESSED.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23160"/>
            <a:ext cx="10332720" cy="53035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0">
                <a:solidFill>
                  <a:srgbClr val="18313A"/>
                </a:solidFill>
                <a:latin typeface="Atkinson Hyperlegible"/>
              </a:rPr>
              <a:t>02   Tax, revenue recognition and statutory presentation: NOT ASSESSED.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10332720" cy="53035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0">
                <a:solidFill>
                  <a:srgbClr val="18313A"/>
                </a:solidFill>
                <a:latin typeface="Atkinson Hyperlegible"/>
              </a:rPr>
              <a:t>03   Independent Controller, language-owner and client review: NOT ASSESSED.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69080"/>
            <a:ext cx="10332720" cy="53035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176B68"/>
                </a:solidFill>
                <a:latin typeface="Atkinson Hyperlegible"/>
              </a:rPr>
              <a:t>04   Before real use, reperform against an approved source contract and reconcile outputs.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623560"/>
            <a:ext cx="10332720" cy="43891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000" b="0">
                <a:solidFill>
                  <a:srgbClr val="58676D"/>
                </a:solidFill>
                <a:latin typeface="Atkinson Hyperlegible"/>
              </a:rPr>
              <a:t>No client, market, tax or financing claim is made. Do not publish or use as a client pack.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