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07040" cy="6400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3000" b="1">
                <a:solidFill>
                  <a:srgbClr val="18313A"/>
                </a:solidFill>
                <a:latin typeface="Spectral"/>
              </a:rPr>
              <a:t>Collection delay shifts cash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9875520" cy="6400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800" b="0">
                <a:solidFill>
                  <a:srgbClr val="176B68"/>
                </a:solidFill>
                <a:latin typeface="Atkinson Hyperlegible"/>
              </a:rPr>
              <a:t>A four-period synthetic fixture keeps billings and cash costs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58676D"/>
                </a:solidFill>
                <a:latin typeface="Atkinson Hyperlegible"/>
              </a:rPr>
              <a:t>UNFUNDED GAP AFTER THE ASSUMED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67328"/>
            <a:ext cx="324612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76B68"/>
                </a:solidFill>
                <a:latin typeface="Spectral"/>
              </a:rPr>
              <a:t>0 SCU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2"/>
            <a:ext cx="3246120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No 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3767328"/>
            <a:ext cx="324612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466A5"/>
                </a:solidFill>
                <a:latin typeface="Spectral"/>
              </a:rPr>
              <a:t>0 SCU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4370832"/>
            <a:ext cx="3246120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One-period 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3767328"/>
            <a:ext cx="324612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9C3F35"/>
                </a:solidFill>
                <a:latin typeface="Spectral"/>
              </a:rPr>
              <a:t>45 SCU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4370832"/>
            <a:ext cx="3246120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Two-period 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58676D"/>
                </a:solidFill>
                <a:latin typeface="Atkinson Hyperlegible"/>
              </a:rPr>
              <a:t>SYNTHETIC TEST DATA - internal output-format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424160" cy="457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58676D"/>
                </a:solidFill>
                <a:latin typeface="Atkinson Hyperlegible"/>
              </a:rPr>
              <a:t>SCU is not a real currency. Internal format test; no client or accounting conclusion.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8313A"/>
                </a:solidFill>
                <a:latin typeface="Spectral"/>
              </a:rPr>
              <a:t>The scenario holds billings and costs constant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292608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2500" b="1">
                <a:solidFill>
                  <a:srgbClr val="176B68"/>
                </a:solidFill>
                <a:latin typeface="Spectral"/>
              </a:rPr>
              <a:t>400 SCU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2926080" cy="365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Atkinson Hyperlegible"/>
              </a:rPr>
              <a:t>Billings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292608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00" b="0">
                <a:solidFill>
                  <a:srgbClr val="58676D"/>
                </a:solidFill>
                <a:latin typeface="Atkinson Hyperlegible"/>
              </a:rPr>
              <a:t>same in all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74519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148840"/>
            <a:ext cx="292608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2500" b="1">
                <a:solidFill>
                  <a:srgbClr val="1466A5"/>
                </a:solidFill>
                <a:latin typeface="Spectral"/>
              </a:rPr>
              <a:t>240 SCU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743200"/>
            <a:ext cx="2926080" cy="365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Atkinson Hyperlegible"/>
              </a:rPr>
              <a:t>Cash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154680"/>
            <a:ext cx="292608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00" b="0">
                <a:solidFill>
                  <a:srgbClr val="58676D"/>
                </a:solidFill>
                <a:latin typeface="Atkinson Hyperlegible"/>
              </a:rPr>
              <a:t>same in all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874519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2148840"/>
            <a:ext cx="292608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2500" b="1">
                <a:solidFill>
                  <a:srgbClr val="9C3F35"/>
                </a:solidFill>
                <a:latin typeface="Spectral"/>
              </a:rPr>
              <a:t>75 SCU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2743200"/>
            <a:ext cx="2926080" cy="365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Atkinson Hyperlegible"/>
              </a:rPr>
              <a:t>Available 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3154680"/>
            <a:ext cx="292608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00" b="0">
                <a:solidFill>
                  <a:srgbClr val="58676D"/>
                </a:solidFill>
                <a:latin typeface="Atkinson Hyperlegible"/>
              </a:rPr>
              <a:t>assumption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54880"/>
            <a:ext cx="10607040" cy="7315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58676D"/>
                </a:solidFill>
                <a:latin typeface="Atkinson Hyperlegible"/>
              </a:rPr>
              <a:t>Assumptions are artificial test inputs; the fixture does not model revenue recognition, taxes, customer credit risk or actual financing.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8313A"/>
                </a:solidFill>
                <a:latin typeface="Spectral"/>
              </a:rPr>
              <a:t>Buffer gap by collection delay</a:t>
            </a:r>
          </a:p>
        </p:txBody>
      </p:sp>
      <p:pic>
        <p:nvPicPr>
          <p:cNvPr id="4" name="Picture 3" descr="Three-case synthetic comparison of the gap beyond an assumed 75 SCU buffer. 0-period lag: 0 SCU; 1-period lag: 0 SCU; 2-period lag: 45 SCU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53312"/>
            <a:ext cx="8823960" cy="4963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537960"/>
            <a:ext cx="10332720" cy="182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58676D"/>
                </a:solidFill>
                <a:latin typeface="Atkinson Hyperlegible"/>
              </a:rPr>
              <a:t>Synthetic calculation; not a forecast or committed funding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8313A"/>
                </a:solidFill>
                <a:latin typeface="Spectral"/>
              </a:rPr>
              <a:t>Only receipt timing changes across the three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Cash trough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Funding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Ending 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21991"/>
            <a:ext cx="10744200" cy="73152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 period(s)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1 period(s)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42232"/>
            <a:ext cx="10744200" cy="73152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2 period(s)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-120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120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58676D"/>
                </a:solidFill>
                <a:latin typeface="Atkinson Hyperlegible"/>
              </a:rPr>
              <a:t>Receivables are fixture billings not received by period 4; this is not an accounting subledger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Spectral"/>
              </a:rPr>
              <a:t>Use this pack to test file production, not to approve a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0">
                <a:solidFill>
                  <a:srgbClr val="18313A"/>
                </a:solidFill>
                <a:latin typeface="Atkinson Hyperlegible"/>
              </a:rPr>
              <a:t>01   Reporting entity, framework and transaction source: NOT ASSESSED.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0">
                <a:solidFill>
                  <a:srgbClr val="18313A"/>
                </a:solidFill>
                <a:latin typeface="Atkinson Hyperlegible"/>
              </a:rPr>
              <a:t>02   Tax, revenue recognition and statutory presentation: NOT ASSESSED.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0">
                <a:solidFill>
                  <a:srgbClr val="18313A"/>
                </a:solidFill>
                <a:latin typeface="Atkinson Hyperlegible"/>
              </a:rPr>
              <a:t>03   Independent Controller, language-owner and client review: NOT ASSESSED.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1">
                <a:solidFill>
                  <a:srgbClr val="176B68"/>
                </a:solidFill>
                <a:latin typeface="Atkinson Hyperlegible"/>
              </a:rPr>
              <a:t>04   Before real use, reperform against an approved source contract and reconcile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332720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58676D"/>
                </a:solidFill>
                <a:latin typeface="Atkinson Hyperlegible"/>
              </a:rPr>
              <a:t>No client, market, tax or financing claim is made. Do not publish or use as a client pack.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